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03733"/>
            <a:ext cx="18288" cy="266700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9528" y="2203733"/>
            <a:ext cx="1889410" cy="26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F6BFF"/>
                </a:solidFill>
                <a:latin typeface="Noto Sans CJK KR Light"/>
              </a:rPr>
              <a:t>2026 OFFICIAL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0309"/>
            <a:ext cx="8244000" cy="168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11827"/>
                </a:solidFill>
                <a:latin typeface="Noto Sans CJK KR Light"/>
              </a:rPr>
              <a:t>Network Detection and Response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94336"/>
            <a:ext cx="5929313" cy="989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Noto Sans CJK KR Light"/>
              </a:rPr>
              <a:t>풀 패킷 분석 기반의 차세대 네트워크 보안 솔루션으로
보이지 않는 위협까지 탐지하고 대응합니다.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49600"/>
            <a:ext cx="914400" cy="16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Noto Sans CJK KR Light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48710"/>
            <a:ext cx="984857" cy="286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Noto Sans CJK KR Light"/>
              </a:rPr>
              <a:t>전략기획팀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9113" y="5349600"/>
            <a:ext cx="914400" cy="16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Noto Sans CJK KR Light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9113" y="5548710"/>
            <a:ext cx="984857" cy="286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Noto Sans CJK KR Light"/>
              </a:rPr>
              <a:t>2026. 01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5831" y="5349600"/>
            <a:ext cx="914400" cy="16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F6BFF"/>
                </a:solidFill>
                <a:latin typeface="Noto Sans CJK KR Light"/>
              </a:rPr>
              <a:t>VERSION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5831" y="5548710"/>
            <a:ext cx="984857" cy="286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Noto Sans CJK KR Light"/>
              </a:rPr>
              <a:t>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18288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Noto Sans CJK KR Light"/>
              </a:rPr>
              <a:t>CONTENTS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420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11827"/>
                </a:solidFill>
                <a:latin typeface="Noto Sans CJK KR Black"/>
              </a:rPr>
              <a:t>Table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2780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11827"/>
                </a:solidFill>
                <a:latin typeface="Noto Sans CJK KR Black"/>
              </a:rPr>
              <a:t>Contents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71400"/>
            <a:ext cx="457200" cy="27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2720" y="4194175"/>
            <a:ext cx="3419475" cy="895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Noto Sans CJK KR Light"/>
              </a:rPr>
              <a:t>Quad Miners의 2026년 보안 솔루션 포트폴리오를 소개합니다.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4448" y="1826075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0797" y="1826075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Company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0797" y="2219249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Quad Miners 기업 소개 및 비전,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60797" y="2428646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핵심 가치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5554" y="1826075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2794" y="1826075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Core Technology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2794" y="2219249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Full Packet Analysis 기반의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2794" y="2428646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고성능 데이터 처리 기술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4448" y="3081791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60797" y="3081791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Key Solutions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0797" y="3474965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Network Blackbox 및 QUADX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60797" y="3684362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플랫폼 주요 기능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5554" y="3081791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2794" y="3081791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Industry References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2794" y="3474965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금융, 공공, 제조 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2794" y="3684362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산업별 구축 성공 사례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4448" y="4343400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0797" y="4343400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Roadmap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60797" y="4736574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차세대 보안 위협 대응을 위한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60797" y="4945971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제품 로드맵 및 전략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5554" y="4343400"/>
            <a:ext cx="791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F6BFF"/>
                </a:solidFill>
                <a:latin typeface="Noto Sans CJK KR Black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2794" y="4343400"/>
            <a:ext cx="2382012" cy="333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Noto Sans CJK KR Light"/>
              </a:rPr>
              <a:t>Q&amp;A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2794" y="4736574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솔루션 도입 및 기술 지원 관련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2794" y="4945971"/>
            <a:ext cx="210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Noto Sans CJK KR Light"/>
              </a:rPr>
              <a:t>질의응답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100000" y="1820000"/>
            <a:ext cx="2000000" cy="28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00000" y="1820000"/>
            <a:ext cx="200000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F6BFF"/>
                </a:solidFill>
                <a:latin typeface="Noto Sans CJK KR Light"/>
              </a:rPr>
              <a:t>SECTION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9600" y="2404800"/>
            <a:ext cx="8611200" cy="12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>
                <a:solidFill>
                  <a:srgbClr val="111827"/>
                </a:solidFill>
                <a:latin typeface="Noto Sans CJK KR Light"/>
              </a:rPr>
              <a:t>Company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0800" y="4212000"/>
            <a:ext cx="5155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74151"/>
                </a:solidFill>
                <a:latin typeface="Noto Sans CJK KR Light"/>
              </a:rPr>
              <a:t>Quad Miners는 네트워크 보안의 사각지대를 없애고
데이터 기반의 투명한 보안 환경을 만들어갑니다.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91200"/>
            <a:ext cx="6256800" cy="92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827"/>
                </a:solidFill>
                <a:latin typeface="Noto Sans CJK KR Light"/>
              </a:rPr>
              <a:t>Full Packet Analysis 기반의 완벽한 가시성 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9200"/>
            <a:ext cx="6246000" cy="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Noto Sans CJK KR Light"/>
              </a:rPr>
              <a:t>네트워크 블랙박스는 기존 보안 솔루션이 놓치던 사각지대를 제거합니다. 모든 패킷을 100% 저장하고 분석하여 침해 사고 발생 시 원인 규명부터 재발 방지까지 확실한 해답을 제시합니다.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9262" y="3822700"/>
            <a:ext cx="304495" cy="304495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network_blackbox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3879850"/>
            <a:ext cx="160000" cy="19019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5584" y="3822700"/>
            <a:ext cx="6245225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Noto Sans CJK KR Light"/>
              </a:rPr>
              <a:t>실시간 고속 패킷 수집 및 저장 (100Gbps 지원)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262" y="4345488"/>
            <a:ext cx="304495" cy="304495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network_blackbox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4402638"/>
            <a:ext cx="160000" cy="19019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5584" y="4345488"/>
            <a:ext cx="6245225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Noto Sans CJK KR Light"/>
              </a:rPr>
              <a:t>행위 기반 이상 징후 탐지 및 AI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262" y="4868276"/>
            <a:ext cx="304495" cy="304495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network_blackbox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00" y="4925426"/>
            <a:ext cx="160000" cy="1901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5584" y="4868276"/>
            <a:ext cx="6245225" cy="304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Noto Sans CJK KR Light"/>
              </a:rPr>
              <a:t>직관적인 대시보드와 상세한 포렌식 리포트 제공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88098" y="2257654"/>
            <a:ext cx="4552798" cy="2572207"/>
          </a:xfrm>
          <a:prstGeom prst="rect">
            <a:avLst/>
          </a:prstGeom>
          <a:solidFill>
            <a:srgbClr val="F0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8098" y="3200000"/>
            <a:ext cx="4552798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CA3AF"/>
                </a:solidFill>
                <a:latin typeface="Noto Sans CJK KR Light"/>
              </a:rPr>
              <a:t>Network Blackbox
Dashboard Screenshot</a:t>
            </a:r>
          </a:p>
        </p:txBody>
      </p:sp>
      <p:pic>
        <p:nvPicPr>
          <p:cNvPr id="22" name="Picture 21" descr="network_blackbox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000" y="2450000"/>
            <a:ext cx="2400000" cy="4538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730898" y="5565953"/>
            <a:ext cx="1990649" cy="85770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etwork_blackbox_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5766206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540142" y="5766206"/>
            <a:ext cx="972007" cy="162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CA3AF"/>
                </a:solidFill>
                <a:latin typeface="Noto Sans CJK KR Light"/>
              </a:rPr>
              <a:t>THREAT LEVEL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2847" y="5956402"/>
            <a:ext cx="957377" cy="247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Noto Sans CJK KR Light"/>
              </a:rPr>
              <a:t>Protected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700" y="365125"/>
            <a:ext cx="9575800" cy="496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827"/>
                </a:solidFill>
                <a:latin typeface="Noto Sans CJK KR Light"/>
              </a:rPr>
              <a:t>핵심 차별화 포인트 (Differentiation)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26450"/>
            <a:ext cx="11074400" cy="334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Noto Sans CJK KR Light"/>
              </a:rPr>
              <a:t>단순 위협 알림을 넘어, 확정적 증거(Deterministic Evidence) 기반의 완전한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490" y="1322527"/>
            <a:ext cx="3657600" cy="66659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9490" y="1322527"/>
            <a:ext cx="3557600" cy="66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 Light"/>
              </a:rPr>
              <a:t>CATEGORY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7090" y="1322527"/>
            <a:ext cx="3657600" cy="666598"/>
          </a:xfrm>
          <a:prstGeom prst="rect">
            <a:avLst/>
          </a:prstGeom>
          <a:solidFill>
            <a:srgbClr val="374151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090" y="1322527"/>
            <a:ext cx="3557600" cy="66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 Light"/>
              </a:rPr>
              <a:t>General NDR / Legacy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4690" y="1322527"/>
            <a:ext cx="3657600" cy="666598"/>
          </a:xfrm>
          <a:prstGeom prst="rect">
            <a:avLst/>
          </a:prstGeom>
          <a:solidFill>
            <a:srgbClr val="2F6BFF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4690" y="1322527"/>
            <a:ext cx="3557600" cy="666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KR Light"/>
              </a:rPr>
              <a:t>Network Blackbox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490" y="1989125"/>
            <a:ext cx="3657600" cy="100263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6650" y="2049125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Noto Sans CJK KR Light"/>
              </a:rPr>
              <a:t>Data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7090" y="1989125"/>
            <a:ext cx="3657600" cy="100263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4250" y="2049125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Noto Sans CJK KR Light"/>
              </a:rPr>
              <a:t>로그, NetFlow, 메타데이터 요약 데이터
원본 패킷 부재로 상세 분석 불가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14690" y="1989125"/>
            <a:ext cx="3657600" cy="1002639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1850" y="2049125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D9"/>
                </a:solidFill>
                <a:latin typeface="Noto Sans CJK KR Light"/>
              </a:rPr>
              <a:t>100% Full Packet Capture (FPC)
모든 통신의 원본 데이터 손실 없이 저장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9490" y="2991764"/>
            <a:ext cx="3657600" cy="1002639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650" y="3051764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Noto Sans CJK KR Light"/>
              </a:rPr>
              <a:t>Detection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57090" y="2991764"/>
            <a:ext cx="3657600" cy="1002639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4250" y="3051764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Noto Sans CJK KR Light"/>
              </a:rPr>
              <a:t>시그니처/패턴 매칭 기반 위협 모델
탐지된 위협 알림(Alert) 중심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4690" y="2991764"/>
            <a:ext cx="3657600" cy="1002639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1850" y="3051764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D9"/>
                </a:solidFill>
                <a:latin typeface="Noto Sans CJK KR Light"/>
              </a:rPr>
              <a:t>행위 기반 이상 탐지 (Behavior Analysis)
정상 도구 악용 및 Lateral Movement 식별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9490" y="3994403"/>
            <a:ext cx="3657600" cy="100263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650" y="4054403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Noto Sans CJK KR Light"/>
              </a:rPr>
              <a:t>Hunting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57090" y="3994403"/>
            <a:ext cx="3657600" cy="1002639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250" y="4054403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Noto Sans CJK KR Light"/>
              </a:rPr>
              <a:t>단편적인 이벤트 조회 수준
공격 단계별 연관 분석 어려움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4690" y="3994403"/>
            <a:ext cx="3657600" cy="1002639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51850" y="4054403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D9"/>
                </a:solidFill>
                <a:latin typeface="Noto Sans CJK KR Light"/>
              </a:rPr>
              <a:t>MITRE ATT&amp;CK TTPs 기반
공격 라이프사이클 시각화 및 시나리오 헌팅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490" y="4997042"/>
            <a:ext cx="3657600" cy="1002639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6650" y="5057042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Noto Sans CJK KR Light"/>
              </a:rPr>
              <a:t>Evidence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7090" y="4997042"/>
            <a:ext cx="3657600" cy="1002639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4250" y="5057042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Noto Sans CJK KR Light"/>
              </a:rPr>
              <a:t>로그 삭제 시 추적 불가 (Anti-Forensic)
법적 효력이 있는 확정적 증거 부족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14690" y="4997042"/>
            <a:ext cx="3657600" cy="1002639"/>
          </a:xfrm>
          <a:prstGeom prst="rect">
            <a:avLst/>
          </a:prstGeom>
          <a:solidFill>
            <a:srgbClr val="E0E7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1850" y="5057042"/>
            <a:ext cx="3383280" cy="902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4FD9"/>
                </a:solidFill>
                <a:latin typeface="Noto Sans CJK KR Light"/>
              </a:rPr>
              <a:t>영구적 패킷 증거 (Immutable Proof)
위변조 불가능한 원본 패킷 보존 및 고속 재구성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ast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62300" y="0"/>
            <a:ext cx="15535800" cy="6858000"/>
          </a:xfrm>
          <a:prstGeom prst="rect">
            <a:avLst/>
          </a:prstGeom>
        </p:spPr>
      </p:pic>
      <p:pic>
        <p:nvPicPr>
          <p:cNvPr id="3" name="Picture 2" descr="header_qm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8880" y="384048"/>
            <a:ext cx="1700214" cy="228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705600"/>
            <a:ext cx="12192000" cy="18288"/>
          </a:xfrm>
          <a:prstGeom prst="rect">
            <a:avLst/>
          </a:prstGeom>
          <a:solidFill>
            <a:srgbClr val="00D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ooter_qm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23" y="6720754"/>
            <a:ext cx="791952" cy="179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6200" y="6712636"/>
            <a:ext cx="42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9CA3AF"/>
                </a:solidFill>
                <a:latin typeface="Noto Sans CJK KR Light"/>
              </a:rPr>
              <a:t>© 2026  Quad Miners and/or its affiliates. All rights 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0000" y="6712636"/>
            <a:ext cx="6000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B7280"/>
                </a:solidFill>
                <a:latin typeface="Noto Sans CJK KR Ligh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2000" y="6712636"/>
            <a:ext cx="914400" cy="171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9CA3AF"/>
                </a:solidFill>
                <a:latin typeface="Noto Sans CJK KR Light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3952" y="2400300"/>
            <a:ext cx="5334024" cy="1323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111827"/>
                </a:solidFill>
                <a:latin typeface="Noto Sans CJK KR Light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1154" y="3828792"/>
            <a:ext cx="3681858" cy="419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B5563"/>
                </a:solidFill>
                <a:latin typeface="Noto Sans CJK KR Light"/>
              </a:rPr>
              <a:t>네트워크 보안의 새로운 기준,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208" y="4227750"/>
            <a:ext cx="4494438" cy="495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F6BFF"/>
                </a:solidFill>
                <a:latin typeface="Noto Sans CJK KR Light"/>
              </a:rPr>
              <a:t>Quad Miners가 함께합니다.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91636" y="4361034"/>
            <a:ext cx="1390194" cy="139019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losing_layout_4_Image_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594" y="4485384"/>
            <a:ext cx="1143000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48264" y="5905458"/>
            <a:ext cx="1347978" cy="19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CA3AF"/>
                </a:solidFill>
                <a:latin typeface="Noto Sans CJK KR Light"/>
              </a:rPr>
              <a:t>Scan for more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